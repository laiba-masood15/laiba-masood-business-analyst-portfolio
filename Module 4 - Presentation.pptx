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3" r:id="rId4"/>
    <p:sldId id="259" r:id="rId5"/>
    <p:sldId id="264" r:id="rId6"/>
    <p:sldId id="260" r:id="rId7"/>
    <p:sldId id="261" r:id="rId8"/>
    <p:sldId id="265" r:id="rId9"/>
  </p:sldIdLst>
  <p:sldSz cx="9144000" cy="5143500" type="screen16x9"/>
  <p:notesSz cx="6858000" cy="9144000"/>
  <p:embeddedFontLst>
    <p:embeddedFont>
      <p:font typeface="Roboto" panose="020B0604020202020204" charset="0"/>
      <p:regular r:id="rId11"/>
      <p:bold r:id="rId12"/>
      <p:italic r:id="rId13"/>
      <p:boldItalic r:id="rId14"/>
    </p:embeddedFont>
    <p:embeddedFont>
      <p:font typeface="Roboto Slab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>
        <p:scale>
          <a:sx n="134" d="100"/>
          <a:sy n="134" d="100"/>
        </p:scale>
        <p:origin x="-954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03126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b="1" dirty="0" smtClean="0"/>
              <a:t>The </a:t>
            </a:r>
            <a:r>
              <a:rPr lang="en-US" b="1" dirty="0"/>
              <a:t>4-Part System Flow:</a:t>
            </a:r>
            <a:endParaRPr lang="en-US" dirty="0"/>
          </a:p>
          <a:p>
            <a:r>
              <a:rPr lang="en-US" b="1" dirty="0"/>
              <a:t>Intake &amp; Risk Scoring (Automatic)</a:t>
            </a:r>
            <a:endParaRPr lang="en-US" dirty="0"/>
          </a:p>
          <a:p>
            <a:pPr lvl="1"/>
            <a:r>
              <a:rPr lang="en-US" dirty="0"/>
              <a:t>Ingest real-time customer data (payments, balances, utilization).</a:t>
            </a:r>
          </a:p>
          <a:p>
            <a:pPr lvl="1"/>
            <a:r>
              <a:rPr lang="en-US" dirty="0"/>
              <a:t>Run predictive model to generate a </a:t>
            </a:r>
            <a:r>
              <a:rPr lang="en-US" b="1" dirty="0"/>
              <a:t>dynamic Delinquency Risk Score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Tag each customer with their </a:t>
            </a:r>
            <a:r>
              <a:rPr lang="en-US" b="1" dirty="0"/>
              <a:t>high-risk segment</a:t>
            </a:r>
            <a:r>
              <a:rPr lang="en-US" dirty="0"/>
              <a:t> (e.g., "Deteriorating Payer," "Overleveraged").</a:t>
            </a:r>
          </a:p>
          <a:p>
            <a:r>
              <a:rPr lang="en-US" b="1" dirty="0"/>
              <a:t>Strategy &amp; Intervention Selection (Automated Logic)</a:t>
            </a:r>
            <a:endParaRPr lang="en-US" dirty="0"/>
          </a:p>
          <a:p>
            <a:pPr lvl="1"/>
            <a:r>
              <a:rPr lang="en-US" dirty="0"/>
              <a:t>System maps each risk profile to a </a:t>
            </a:r>
            <a:r>
              <a:rPr lang="en-US" b="1" dirty="0"/>
              <a:t>pre-approved intervention strategy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Example Logic:</a:t>
            </a:r>
            <a:r>
              <a:rPr lang="en-US" dirty="0"/>
              <a:t> If customer is a "Deteriorating Payer," the system selects a "Pre-Delinquency Outreach" strategy.</a:t>
            </a:r>
          </a:p>
          <a:p>
            <a:pPr lvl="1"/>
            <a:r>
              <a:rPr lang="en-US" b="1" dirty="0"/>
              <a:t>Ethical Guardrail:</a:t>
            </a:r>
            <a:r>
              <a:rPr lang="en-US" dirty="0"/>
              <a:t> All strategies are based on responsible actions (offers of help, not punitive measures).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</a:t>
            </a:r>
            <a:r>
              <a:rPr lang="en" dirty="0" smtClean="0"/>
              <a:t>Works (Cont)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Personalized Action (Automated &amp; Human-Assisted)</a:t>
            </a:r>
            <a:endParaRPr lang="en-US" dirty="0"/>
          </a:p>
          <a:p>
            <a:pPr lvl="1"/>
            <a:r>
              <a:rPr lang="en-US" b="1" dirty="0"/>
              <a:t>Low-Risk Actions:</a:t>
            </a:r>
            <a:r>
              <a:rPr lang="en-US" dirty="0"/>
              <a:t> Fully automated (e.g., personalized payment reminder email, text alert about high utilization).</a:t>
            </a:r>
          </a:p>
          <a:p>
            <a:pPr lvl="1"/>
            <a:r>
              <a:rPr lang="en-US" b="1" dirty="0"/>
              <a:t>High-Risk/Complex Cases:</a:t>
            </a:r>
            <a:r>
              <a:rPr lang="en-US" dirty="0"/>
              <a:t> Flagged for </a:t>
            </a:r>
            <a:r>
              <a:rPr lang="en-US" b="1" dirty="0"/>
              <a:t>human-in-the-loop review</a:t>
            </a:r>
            <a:r>
              <a:rPr lang="en-US" dirty="0"/>
              <a:t>. A collections agent receives a detailed case file with the predicted risk factors and a recommended empathetic script.</a:t>
            </a:r>
          </a:p>
          <a:p>
            <a:r>
              <a:rPr lang="en-US" b="1" dirty="0"/>
              <a:t>Outcome Tracking &amp; Learning (Continuous)</a:t>
            </a:r>
            <a:endParaRPr lang="en-US" dirty="0"/>
          </a:p>
          <a:p>
            <a:pPr lvl="1"/>
            <a:r>
              <a:rPr lang="en-US" dirty="0"/>
              <a:t>System tracks the result of every intervention (e.g., customer made a payment, enrolled in a plan).</a:t>
            </a:r>
          </a:p>
          <a:p>
            <a:pPr lvl="1"/>
            <a:r>
              <a:rPr lang="en-US" dirty="0"/>
              <a:t>This feedback loop continuously refines the predictive model and intervention strategies, making the system smarter over time.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6122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/>
              <a:t>Autonomous Operations – For Scale and </a:t>
            </a:r>
            <a:r>
              <a:rPr lang="en-US" b="1" dirty="0" smtClean="0"/>
              <a:t>Speed:</a:t>
            </a:r>
            <a:endParaRPr lang="en-US" dirty="0"/>
          </a:p>
          <a:p>
            <a:r>
              <a:rPr lang="en-US" b="1" dirty="0"/>
              <a:t>Risk Scoring &amp; Segmentation:</a:t>
            </a:r>
            <a:r>
              <a:rPr lang="en-US" dirty="0"/>
              <a:t> The system continuously calculates a dynamic Delinquency Risk Score and tags customers into high-risk segments (e.g., "Deteriorating Payer").</a:t>
            </a:r>
          </a:p>
          <a:p>
            <a:r>
              <a:rPr lang="en-US" b="1" dirty="0"/>
              <a:t>Standardized Outreach:</a:t>
            </a:r>
            <a:r>
              <a:rPr lang="en-US" dirty="0"/>
              <a:t> It automatically triggers low-stakes, helpful communications like payment reminders, financial wellness tips, and automated payment plan offers.</a:t>
            </a:r>
          </a:p>
          <a:p>
            <a:r>
              <a:rPr lang="en-US" b="1" dirty="0"/>
              <a:t>Workflow Management:</a:t>
            </a:r>
            <a:r>
              <a:rPr lang="en-US" dirty="0"/>
              <a:t> AI handles the routing and prioritization of cases, ensuring the most urgent accounts are directed to the appropriate agent queues.</a:t>
            </a:r>
          </a:p>
          <a:p>
            <a:r>
              <a:rPr lang="en-US" b="1" dirty="0"/>
              <a:t>Continuous Monitoring:</a:t>
            </a:r>
            <a:r>
              <a:rPr lang="en-US" dirty="0"/>
              <a:t> It autonomously processes data, detects behavioral anomalies, and monitors for technical model drift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</a:t>
            </a:r>
            <a:r>
              <a:rPr lang="en" dirty="0" smtClean="0"/>
              <a:t>AI (Cont)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en-US" b="1" dirty="0"/>
              <a:t>Human Oversight Required – For Ethics, Empathy, and Exception Handling:</a:t>
            </a:r>
            <a:endParaRPr lang="en-US" dirty="0"/>
          </a:p>
          <a:p>
            <a:r>
              <a:rPr lang="en-US" b="1" dirty="0"/>
              <a:t>Final Legal &amp; Escalation Decisions:</a:t>
            </a:r>
            <a:r>
              <a:rPr lang="en-US" dirty="0"/>
              <a:t> A human manager must approve any account for transfer to external collections agencies or legal action.</a:t>
            </a:r>
          </a:p>
          <a:p>
            <a:r>
              <a:rPr lang="en-US" b="1" dirty="0"/>
              <a:t>Complex Case Resolution:</a:t>
            </a:r>
            <a:r>
              <a:rPr lang="en-US" dirty="0"/>
              <a:t> Agents handle disputes, review contested risk scores, and manage complex customer hardship situations requiring empathy and nuanced judgment.</a:t>
            </a:r>
          </a:p>
          <a:p>
            <a:r>
              <a:rPr lang="en-US" b="1" dirty="0"/>
              <a:t>Strategy &amp; Governance:</a:t>
            </a:r>
            <a:r>
              <a:rPr lang="en-US" dirty="0"/>
              <a:t> Teams of experts design, approve, and regularly review the ethical intervention rules and communication templates that the AI system follows.</a:t>
            </a:r>
          </a:p>
          <a:p>
            <a:r>
              <a:rPr lang="en-US" b="1" dirty="0"/>
              <a:t>Fairness Audits &amp; Model Stewardship:</a:t>
            </a:r>
            <a:r>
              <a:rPr lang="en-US" dirty="0"/>
              <a:t> Leadership and compliance teams conduct quarterly reviews of bias metrics and performance reports to ensure the system operates fairly and effectively.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957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298437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To ensure the system is fair, transparent, and trustworthy, we will build in the following key guardrails:</a:t>
            </a:r>
          </a:p>
          <a:p>
            <a:r>
              <a:rPr lang="en-US" sz="1400" b="1" dirty="0"/>
              <a:t>Fairness-by-Design Monitoring:</a:t>
            </a:r>
            <a:r>
              <a:rPr lang="en-US" sz="1400" dirty="0"/>
              <a:t> The system will </a:t>
            </a:r>
            <a:r>
              <a:rPr lang="en-US" sz="1400" b="1" dirty="0"/>
              <a:t>continuously audit itself</a:t>
            </a:r>
            <a:r>
              <a:rPr lang="en-US" sz="1400" dirty="0"/>
              <a:t> for disparate impact (e.g., checking if approval rates for payment plans differ unfairly by age or location). Automated alerts will flag any bias drift.</a:t>
            </a:r>
          </a:p>
          <a:p>
            <a:r>
              <a:rPr lang="en-US" sz="1400" b="1" dirty="0"/>
              <a:t>Right to Explanation &amp; Human Review:</a:t>
            </a:r>
            <a:r>
              <a:rPr lang="en-US" sz="1400" dirty="0"/>
              <a:t> Any customer can request a </a:t>
            </a:r>
            <a:r>
              <a:rPr lang="en-US" sz="1400" b="1" dirty="0"/>
              <a:t>"Reason Code" explanation</a:t>
            </a:r>
            <a:r>
              <a:rPr lang="en-US" sz="1400" dirty="0"/>
              <a:t> for why they received an outreach (e.g., "High risk score due to 3 missed payments and 85% credit utilization"). They will always have a clear, simple path to speak to a human agent.</a:t>
            </a:r>
          </a:p>
          <a:p>
            <a:r>
              <a:rPr lang="en-US" sz="1400" b="1" dirty="0"/>
              <a:t>Purpose &amp; Data Limitation:</a:t>
            </a:r>
            <a:r>
              <a:rPr lang="en-US" sz="1400" dirty="0"/>
              <a:t> The model will be </a:t>
            </a:r>
            <a:r>
              <a:rPr lang="en-US" sz="1400" b="1" dirty="0"/>
              <a:t>strictly confined</a:t>
            </a:r>
            <a:r>
              <a:rPr lang="en-US" sz="1400" dirty="0"/>
              <a:t> to its intended </a:t>
            </a:r>
            <a:r>
              <a:rPr lang="en-US" sz="1400" dirty="0" smtClean="0"/>
              <a:t>task - predicting </a:t>
            </a:r>
            <a:r>
              <a:rPr lang="en-US" sz="1400" dirty="0"/>
              <a:t>delinquency to enable supportive intervention. It will </a:t>
            </a:r>
            <a:r>
              <a:rPr lang="en-US" sz="1400" b="1" dirty="0"/>
              <a:t>not</a:t>
            </a:r>
            <a:r>
              <a:rPr lang="en-US" sz="1400" dirty="0"/>
              <a:t> be used for marketing, pricing, or employee evaluation.</a:t>
            </a:r>
          </a:p>
          <a:p>
            <a:r>
              <a:rPr lang="en-US" sz="1400" b="1" dirty="0"/>
              <a:t>Ethical Intervention Library:</a:t>
            </a:r>
            <a:r>
              <a:rPr lang="en-US" sz="1400" dirty="0"/>
              <a:t> All automated communications and agent scripts will be grounded in </a:t>
            </a:r>
            <a:r>
              <a:rPr lang="en-US" sz="1400" b="1" dirty="0"/>
              <a:t>empathy and helpfulness</a:t>
            </a:r>
            <a:r>
              <a:rPr lang="en-US" sz="1400" dirty="0"/>
              <a:t> (e.g., offering plans, hardship programs) versus punitive language, ensuring we protect customer trust and regulatory standing</a:t>
            </a:r>
            <a:r>
              <a:rPr lang="en-US" sz="1400" dirty="0" smtClean="0"/>
              <a:t>.</a:t>
            </a:r>
            <a:r>
              <a:rPr lang="en-US" sz="1600" dirty="0"/>
              <a:t/>
            </a:r>
            <a:br>
              <a:rPr lang="en-US" sz="1600" dirty="0"/>
            </a:br>
            <a:endParaRPr lang="en-GB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Key Performance Indicators (KPIs) – The Business Wins:</a:t>
            </a:r>
            <a:endParaRPr lang="en-US" sz="1600" dirty="0"/>
          </a:p>
          <a:p>
            <a:r>
              <a:rPr lang="en-US" sz="1600" b="1" dirty="0"/>
              <a:t>15-20% Reduction in Delinquency Rates</a:t>
            </a:r>
            <a:r>
              <a:rPr lang="en-US" sz="1600" dirty="0"/>
              <a:t> by catching at-risk customers earlier.</a:t>
            </a:r>
          </a:p>
          <a:p>
            <a:r>
              <a:rPr lang="en-US" sz="1600" b="1" dirty="0"/>
              <a:t>30% Increase in Collections Efficiency</a:t>
            </a:r>
            <a:r>
              <a:rPr lang="en-US" sz="1600" dirty="0"/>
              <a:t> by automating low-touch outreach and prioritizing agent time for high-value, complex cases.</a:t>
            </a:r>
          </a:p>
          <a:p>
            <a:r>
              <a:rPr lang="en-US" sz="1600" b="1" dirty="0"/>
              <a:t>Lower Cost-to-Collect</a:t>
            </a:r>
            <a:r>
              <a:rPr lang="en-US" sz="1600" dirty="0"/>
              <a:t> through reduced need for third-party agencies and legal fees.</a:t>
            </a:r>
          </a:p>
          <a:p>
            <a:r>
              <a:rPr lang="en-US" sz="1600" b="1" dirty="0"/>
              <a:t>Improved Recovery Rates</a:t>
            </a:r>
            <a:r>
              <a:rPr lang="en-US" sz="1600" dirty="0"/>
              <a:t> on delinquent accounts through personalized, timely intervention.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Expected Business </a:t>
            </a:r>
            <a:r>
              <a:rPr lang="en" dirty="0" smtClean="0"/>
              <a:t>Impact (Cont)</a:t>
            </a:r>
            <a:endParaRPr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Customer &amp; Strategic Outcomes – The Long-Term Wins:</a:t>
            </a:r>
            <a:endParaRPr lang="en-US" sz="1600" dirty="0"/>
          </a:p>
          <a:p>
            <a:r>
              <a:rPr lang="en-US" sz="1600" b="1" dirty="0"/>
              <a:t>Improved Customer Experience &amp; Retention:</a:t>
            </a:r>
            <a:r>
              <a:rPr lang="en-US" sz="1600" dirty="0"/>
              <a:t> Proactive, helpful outreach preserves relationships, turning potential delinquencies into loyal customers.</a:t>
            </a:r>
          </a:p>
          <a:p>
            <a:r>
              <a:rPr lang="en-US" sz="1600" b="1" dirty="0"/>
              <a:t>Enhanced Regulatory &amp; Ethical Standing:</a:t>
            </a:r>
            <a:r>
              <a:rPr lang="en-US" sz="1600" dirty="0"/>
              <a:t> Documented fairness checks and transparent processes demonstrate responsible AI use to regulators.</a:t>
            </a:r>
          </a:p>
          <a:p>
            <a:r>
              <a:rPr lang="en-US" sz="1600" b="1" dirty="0"/>
              <a:t>Scalable, Data-Driven Strategy:</a:t>
            </a:r>
            <a:r>
              <a:rPr lang="en-US" sz="1600" dirty="0"/>
              <a:t> Moves collections from a reactive cost center to a proactive, scalable function that improves as more data is gathered.</a:t>
            </a:r>
          </a:p>
          <a:p>
            <a:r>
              <a:rPr lang="en-US" sz="1600" b="1" dirty="0"/>
              <a:t>Stronger Portfolio Health:</a:t>
            </a:r>
            <a:r>
              <a:rPr lang="en-US" sz="1600" dirty="0"/>
              <a:t> A systemic reduction in delinquency leads to a more stable and profitable customer portfolio overall.</a:t>
            </a:r>
          </a:p>
          <a:p>
            <a:pPr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0457047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178</Words>
  <Application>Microsoft Office PowerPoint</Application>
  <PresentationFormat>On-screen Show (16:9)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Roboto</vt:lpstr>
      <vt:lpstr>Roboto Slab</vt:lpstr>
      <vt:lpstr>Marina</vt:lpstr>
      <vt:lpstr>AI-Powered Collections Strategy</vt:lpstr>
      <vt:lpstr>How the System Works</vt:lpstr>
      <vt:lpstr>How the System Works (Cont)</vt:lpstr>
      <vt:lpstr>Role of Agentic AI</vt:lpstr>
      <vt:lpstr>Role of Agentic AI (Cont)</vt:lpstr>
      <vt:lpstr>Responsible AI Guardrails</vt:lpstr>
      <vt:lpstr>Expected Business Impact</vt:lpstr>
      <vt:lpstr>Expected Business Impact (Cont)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cp:lastModifiedBy>Hp</cp:lastModifiedBy>
  <cp:revision>6</cp:revision>
  <dcterms:modified xsi:type="dcterms:W3CDTF">2025-12-10T13:59:06Z</dcterms:modified>
</cp:coreProperties>
</file>